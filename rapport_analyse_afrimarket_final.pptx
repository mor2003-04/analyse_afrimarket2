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7772400" cy="5029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2000" b="1">
                <a:solidFill>
                  <a:srgbClr val="0E9F9A"/>
                </a:solidFill>
                <a:latin typeface="Aptos"/>
              </a:rPr>
              <a:t>AFRIMARKET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9875520" cy="1463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Rapport d’analyse</a:t>
            </a:r>
          </a:p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des performances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57600"/>
            <a:ext cx="9601200" cy="4572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600" b="0">
                <a:solidFill>
                  <a:srgbClr val="EEF2F7"/>
                </a:solidFill>
                <a:latin typeface="Aptos"/>
              </a:rPr>
              <a:t>Ventes • rentabilité • clients • marketing • qualité des données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0"/>
            <a:ext cx="10241280" cy="4572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10 000 lignes analysées  |  1 772 clients  |  CA net : 2 293 883 $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806440"/>
            <a:ext cx="9144000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100" b="0">
                <a:solidFill>
                  <a:srgbClr val="EEF2F7"/>
                </a:solidFill>
                <a:latin typeface="Aptos"/>
              </a:rPr>
              <a:t>Synthèse décisionnelle et recommandations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2500" b="1">
                <a:solidFill>
                  <a:srgbClr val="0D1B3E"/>
                </a:solidFill>
                <a:latin typeface="Aptos"/>
              </a:rPr>
              <a:t>Synthèse exécutive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972800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Aptos"/>
              </a:rPr>
              <a:t>Les principaux indicateurs et enseignements de la période étudiée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960120" cy="50292"/>
          </a:xfrm>
          <a:prstGeom prst="rect">
            <a:avLst/>
          </a:prstGeom>
          <a:solidFill>
            <a:srgbClr val="0E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777240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800" b="0">
                <a:solidFill>
                  <a:srgbClr val="5B677A"/>
                </a:solidFill>
                <a:latin typeface="Aptos"/>
              </a:rPr>
              <a:t>AFRIMARKET  |  RAPPORT D’ANALYSE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r"/>
            <a:r>
              <a:rPr sz="900" b="0">
                <a:solidFill>
                  <a:srgbClr val="5B677A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606040" cy="1417320"/>
          </a:xfrm>
          <a:prstGeom prst="roundRect">
            <a:avLst/>
          </a:prstGeom>
          <a:solidFill>
            <a:srgbClr val="EEF2F7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645919"/>
            <a:ext cx="2276856" cy="2286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900" b="1">
                <a:solidFill>
                  <a:srgbClr val="5B677A"/>
                </a:solidFill>
                <a:latin typeface="Aptos"/>
              </a:rPr>
              <a:t>CHIFFRE D’AFFAIRES 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947672"/>
            <a:ext cx="2276856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2200" b="1">
                <a:solidFill>
                  <a:srgbClr val="1F5FAA"/>
                </a:solidFill>
                <a:latin typeface="Aptos"/>
              </a:rPr>
              <a:t>2 293 883 $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508760"/>
            <a:ext cx="2606040" cy="1417320"/>
          </a:xfrm>
          <a:prstGeom prst="roundRect">
            <a:avLst/>
          </a:prstGeom>
          <a:solidFill>
            <a:srgbClr val="EEF2F7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645919"/>
            <a:ext cx="2276856" cy="2286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900" b="1">
                <a:solidFill>
                  <a:srgbClr val="5B677A"/>
                </a:solidFill>
                <a:latin typeface="Aptos"/>
              </a:rPr>
              <a:t>PROFIT NET ESTIMÉ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1947672"/>
            <a:ext cx="2276856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2200" b="1">
                <a:solidFill>
                  <a:srgbClr val="1F5FAA"/>
                </a:solidFill>
                <a:latin typeface="Aptos"/>
              </a:rPr>
              <a:t>630 594 $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08760"/>
            <a:ext cx="2606040" cy="1417320"/>
          </a:xfrm>
          <a:prstGeom prst="roundRect">
            <a:avLst/>
          </a:prstGeom>
          <a:solidFill>
            <a:srgbClr val="EEF2F7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645919"/>
            <a:ext cx="2276856" cy="2286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900" b="1">
                <a:solidFill>
                  <a:srgbClr val="5B677A"/>
                </a:solidFill>
                <a:latin typeface="Aptos"/>
              </a:rPr>
              <a:t>MARGE ESTIMÉE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947672"/>
            <a:ext cx="2276856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2200" b="1">
                <a:solidFill>
                  <a:srgbClr val="1F5FAA"/>
                </a:solidFill>
                <a:latin typeface="Aptos"/>
              </a:rPr>
              <a:t>27.5 %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1508760"/>
            <a:ext cx="2560320" cy="1417320"/>
          </a:xfrm>
          <a:prstGeom prst="roundRect">
            <a:avLst/>
          </a:prstGeom>
          <a:solidFill>
            <a:srgbClr val="EEF2F7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71432" y="1645919"/>
            <a:ext cx="2231136" cy="2286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900" b="1">
                <a:solidFill>
                  <a:srgbClr val="5B677A"/>
                </a:solidFill>
                <a:latin typeface="Aptos"/>
              </a:rPr>
              <a:t>CLIENTS RÉCURRENTS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71432" y="1947672"/>
            <a:ext cx="2231136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2200" b="1">
                <a:solidFill>
                  <a:srgbClr val="1F5FAA"/>
                </a:solidFill>
                <a:latin typeface="Aptos"/>
              </a:rPr>
              <a:t>75.5 %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337560"/>
            <a:ext cx="2743200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800" b="1">
                <a:solidFill>
                  <a:srgbClr val="0D1B3E"/>
                </a:solidFill>
                <a:latin typeface="Aptos"/>
              </a:rPr>
              <a:t>À retenir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749039"/>
            <a:ext cx="10607040" cy="22860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0D1B3E"/>
                </a:solidFill>
                <a:latin typeface="Aptos"/>
              </a:rPr>
              <a:t>•  Électronique est la première catégorie en chiffre d’affaires.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D1B3E"/>
                </a:solidFill>
                <a:latin typeface="Aptos"/>
              </a:rPr>
              <a:t>•  Kinshasa est la ville la plus contributrice au chiffre d’affaires.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D1B3E"/>
                </a:solidFill>
                <a:latin typeface="Aptos"/>
              </a:rPr>
              <a:t>•  December est le mois le plus performant de la période observée.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D1B3E"/>
                </a:solidFill>
                <a:latin typeface="Aptos"/>
              </a:rPr>
              <a:t>•  Le panier moyen par commande est de 229.39 $.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D1B3E"/>
                </a:solidFill>
                <a:latin typeface="Aptos"/>
              </a:rPr>
              <a:t>•  Les décisions d’investissement doivent tenir compte des limites méthodologiques.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2500" b="1">
                <a:solidFill>
                  <a:srgbClr val="0D1B3E"/>
                </a:solidFill>
                <a:latin typeface="Aptos"/>
              </a:rPr>
              <a:t>Périmètre et qualité des données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972800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Aptos"/>
              </a:rPr>
              <a:t>Les résultats sont descriptifs et dépendent des règles de calcul appliquées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960120" cy="50292"/>
          </a:xfrm>
          <a:prstGeom prst="rect">
            <a:avLst/>
          </a:prstGeom>
          <a:solidFill>
            <a:srgbClr val="0E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777240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800" b="0">
                <a:solidFill>
                  <a:srgbClr val="5B677A"/>
                </a:solidFill>
                <a:latin typeface="Aptos"/>
              </a:rPr>
              <a:t>AFRIMARKET  |  RAPPORT D’ANALYSE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r"/>
            <a:r>
              <a:rPr sz="900" b="0">
                <a:solidFill>
                  <a:srgbClr val="5B677A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291840" cy="1325880"/>
          </a:xfrm>
          <a:prstGeom prst="roundRect">
            <a:avLst/>
          </a:prstGeom>
          <a:solidFill>
            <a:srgbClr val="EEF2F7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45919"/>
            <a:ext cx="2962656" cy="2286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900" b="1">
                <a:solidFill>
                  <a:srgbClr val="5B677A"/>
                </a:solidFill>
                <a:latin typeface="Aptos"/>
              </a:rPr>
              <a:t>LIGNES ANALYSÉES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947672"/>
            <a:ext cx="2962656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2200" b="1">
                <a:solidFill>
                  <a:srgbClr val="1F5FAA"/>
                </a:solidFill>
                <a:latin typeface="Aptos"/>
              </a:rPr>
              <a:t>10 000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08760"/>
            <a:ext cx="3291840" cy="1325880"/>
          </a:xfrm>
          <a:prstGeom prst="roundRect">
            <a:avLst/>
          </a:prstGeom>
          <a:solidFill>
            <a:srgbClr val="EEF2F7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1" y="1645919"/>
            <a:ext cx="2962656" cy="2286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900" b="1">
                <a:solidFill>
                  <a:srgbClr val="5B677A"/>
                </a:solidFill>
                <a:latin typeface="Aptos"/>
              </a:rPr>
              <a:t>COMMANDES DISTINCTES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1947672"/>
            <a:ext cx="2962656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2200" b="1">
                <a:solidFill>
                  <a:srgbClr val="1F5FAA"/>
                </a:solidFill>
                <a:latin typeface="Aptos"/>
              </a:rPr>
              <a:t>10 000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508760"/>
            <a:ext cx="3291840" cy="1325880"/>
          </a:xfrm>
          <a:prstGeom prst="roundRect">
            <a:avLst/>
          </a:prstGeom>
          <a:solidFill>
            <a:srgbClr val="EEF2F7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645919"/>
            <a:ext cx="2962656" cy="2286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900" b="1">
                <a:solidFill>
                  <a:srgbClr val="5B677A"/>
                </a:solidFill>
                <a:latin typeface="Aptos"/>
              </a:rPr>
              <a:t>CLIENTS DISTINCTS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1947672"/>
            <a:ext cx="2962656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2200" b="1">
                <a:solidFill>
                  <a:srgbClr val="1F5FAA"/>
                </a:solidFill>
                <a:latin typeface="Aptos"/>
              </a:rPr>
              <a:t>1 772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246120"/>
            <a:ext cx="5486400" cy="3657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800" b="1">
                <a:solidFill>
                  <a:srgbClr val="0D1B3E"/>
                </a:solidFill>
                <a:latin typeface="Aptos"/>
              </a:rPr>
              <a:t>Points de vigilance à valider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657600"/>
            <a:ext cx="10607040" cy="2560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D1B3E"/>
                </a:solidFill>
                <a:latin typeface="Aptos"/>
              </a:rPr>
              <a:t>•  Le profit est estimé avec une hypothèse de coût des marchandises à 60 % du prix.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D1B3E"/>
                </a:solidFill>
                <a:latin typeface="Aptos"/>
              </a:rPr>
              <a:t>•  Le CA doit être rapproché des statuts : les annulations et retours ne sont pas automatiquement exclus.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D1B3E"/>
                </a:solidFill>
                <a:latin typeface="Aptos"/>
              </a:rPr>
              <a:t>•  600 lignes à quantité nulle ont été observées ; leur signification métier doit être confirmée.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D1B3E"/>
                </a:solidFill>
                <a:latin typeface="Aptos"/>
              </a:rPr>
              <a:t>•  Le taux d’incident combine retours et annulations lorsqu’il est calculé avec l’indicateur agrégé.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D1B3E"/>
                </a:solidFill>
                <a:latin typeface="Aptos"/>
              </a:rPr>
              <a:t>•  Les taux présentés sur les lignes ne sont pas nécessairement des taux par commande.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2500" b="1">
                <a:solidFill>
                  <a:srgbClr val="0D1B3E"/>
                </a:solidFill>
                <a:latin typeface="Aptos"/>
              </a:rPr>
              <a:t>Performance globale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972800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Aptos"/>
              </a:rPr>
              <a:t>Chiffre d’affaires et profit estimé sur la période disponible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960120" cy="50292"/>
          </a:xfrm>
          <a:prstGeom prst="rect">
            <a:avLst/>
          </a:prstGeom>
          <a:solidFill>
            <a:srgbClr val="0E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777240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800" b="0">
                <a:solidFill>
                  <a:srgbClr val="5B677A"/>
                </a:solidFill>
                <a:latin typeface="Aptos"/>
              </a:rPr>
              <a:t>AFRIMARKET  |  RAPPORT D’ANALYSE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r"/>
            <a:r>
              <a:rPr sz="900" b="0">
                <a:solidFill>
                  <a:srgbClr val="5B677A"/>
                </a:solidFill>
                <a:latin typeface="Aptos"/>
              </a:rPr>
              <a:t>04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94813"/>
            <a:ext cx="7406640" cy="377129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0" y="1691640"/>
            <a:ext cx="2743200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700" b="1">
                <a:solidFill>
                  <a:srgbClr val="0D1B3E"/>
                </a:solidFill>
                <a:latin typeface="Aptos"/>
              </a:rPr>
              <a:t>Lecture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103120"/>
            <a:ext cx="3017520" cy="34747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0D1B3E"/>
                </a:solidFill>
                <a:latin typeface="Aptos"/>
              </a:rPr>
              <a:t>•  Meilleur mois : December.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D1B3E"/>
                </a:solidFill>
                <a:latin typeface="Aptos"/>
              </a:rPr>
              <a:t>•  Mois le plus faible : November.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D1B3E"/>
                </a:solidFill>
                <a:latin typeface="Aptos"/>
              </a:rPr>
              <a:t>•  La période disponible ne permet pas de conclure à une tendance annuelle.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D1B3E"/>
                </a:solidFill>
                <a:latin typeface="Aptos"/>
              </a:rPr>
              <a:t>•  Annulations observées : 1.93 % des lignes.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D1B3E"/>
                </a:solidFill>
                <a:latin typeface="Aptos"/>
              </a:rPr>
              <a:t>•  Retours observés : 8.16 % des lignes.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2500" b="1">
                <a:solidFill>
                  <a:srgbClr val="0D1B3E"/>
                </a:solidFill>
                <a:latin typeface="Aptos"/>
              </a:rPr>
              <a:t>Analyse par catégorie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972800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Aptos"/>
              </a:rPr>
              <a:t>Concentration du chiffre d’affaires et contribution au profit estimé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960120" cy="50292"/>
          </a:xfrm>
          <a:prstGeom prst="rect">
            <a:avLst/>
          </a:prstGeom>
          <a:solidFill>
            <a:srgbClr val="0E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777240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800" b="0">
                <a:solidFill>
                  <a:srgbClr val="5B677A"/>
                </a:solidFill>
                <a:latin typeface="Aptos"/>
              </a:rPr>
              <a:t>AFRIMARKET  |  RAPPORT D’ANALYSE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r"/>
            <a:r>
              <a:rPr sz="900" b="0">
                <a:solidFill>
                  <a:srgbClr val="5B677A"/>
                </a:solidFill>
                <a:latin typeface="Aptos"/>
              </a:rPr>
              <a:t>05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37011"/>
            <a:ext cx="5669280" cy="353261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737360"/>
          <a:ext cx="5120638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604"/>
                <a:gridCol w="1228953"/>
                <a:gridCol w="1331366"/>
                <a:gridCol w="921715"/>
              </a:tblGrid>
              <a:tr h="69494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Catégorie</a:t>
                      </a:r>
                    </a:p>
                  </a:txBody>
                  <a:tcPr marL="64008" marR="45720" marT="36576" marB="27432"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CA net</a:t>
                      </a:r>
                    </a:p>
                  </a:txBody>
                  <a:tcPr marL="64008" marR="45720" marT="36576" marB="27432"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Profit estimé</a:t>
                      </a:r>
                    </a:p>
                  </a:txBody>
                  <a:tcPr marL="64008" marR="45720" marT="36576" marB="27432"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Incidents</a:t>
                      </a:r>
                    </a:p>
                  </a:txBody>
                  <a:tcPr marL="64008" marR="45720" marT="36576" marB="27432" anchor="ctr">
                    <a:solidFill>
                      <a:srgbClr val="0D1B3E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Électronique</a:t>
                      </a:r>
                    </a:p>
                  </a:txBody>
                  <a:tcPr marL="64008" marR="45720" marT="36576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1 678 487 $</a:t>
                      </a:r>
                    </a:p>
                  </a:txBody>
                  <a:tcPr marL="64008" marR="45720" marT="36576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524 421 $</a:t>
                      </a:r>
                    </a:p>
                  </a:txBody>
                  <a:tcPr marL="64008" marR="45720" marT="36576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15.8 %</a:t>
                      </a:r>
                    </a:p>
                  </a:txBody>
                  <a:tcPr marL="64008" marR="45720" marT="36576" marB="27432" anchor="ctr">
                    <a:solidFill>
                      <a:srgbClr val="EEF2F7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Maison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362 539 $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96 434 $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7.1 %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Mode</a:t>
                      </a:r>
                    </a:p>
                  </a:txBody>
                  <a:tcPr marL="64008" marR="45720" marT="36576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179 146 $</a:t>
                      </a:r>
                    </a:p>
                  </a:txBody>
                  <a:tcPr marL="64008" marR="45720" marT="36576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10 576 $</a:t>
                      </a:r>
                    </a:p>
                  </a:txBody>
                  <a:tcPr marL="64008" marR="45720" marT="36576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9.4 %</a:t>
                      </a:r>
                    </a:p>
                  </a:txBody>
                  <a:tcPr marL="64008" marR="45720" marT="36576" marB="27432" anchor="ctr">
                    <a:solidFill>
                      <a:srgbClr val="EEF2F7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Beauté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73 710 $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-838 $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4.7 %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46520" y="5440680"/>
            <a:ext cx="4937760" cy="6858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200" b="1">
                <a:solidFill>
                  <a:srgbClr val="0D1B3E"/>
                </a:solidFill>
                <a:latin typeface="Aptos"/>
              </a:rPr>
              <a:t>Électronique représente 73.2 % du CA. Examiner ses retours par produit avant d’accélérer davantage l’offre.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2500" b="1">
                <a:solidFill>
                  <a:srgbClr val="0D1B3E"/>
                </a:solidFill>
                <a:latin typeface="Aptos"/>
              </a:rPr>
              <a:t>Analyse géographique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972800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Aptos"/>
              </a:rPr>
              <a:t>Contribution des villes au chiffre d’affaires et au profit estimé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960120" cy="50292"/>
          </a:xfrm>
          <a:prstGeom prst="rect">
            <a:avLst/>
          </a:prstGeom>
          <a:solidFill>
            <a:srgbClr val="0E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777240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800" b="0">
                <a:solidFill>
                  <a:srgbClr val="5B677A"/>
                </a:solidFill>
                <a:latin typeface="Aptos"/>
              </a:rPr>
              <a:t>AFRIMARKET  |  RAPPORT D’ANALYSE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r"/>
            <a:r>
              <a:rPr sz="900" b="0">
                <a:solidFill>
                  <a:srgbClr val="5B677A"/>
                </a:solidFill>
                <a:latin typeface="Aptos"/>
              </a:rPr>
              <a:t>06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20859"/>
            <a:ext cx="5669280" cy="35649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737360"/>
          <a:ext cx="5120637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8953"/>
                <a:gridCol w="1382572"/>
                <a:gridCol w="1484985"/>
                <a:gridCol w="1024127"/>
              </a:tblGrid>
              <a:tr h="49638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Ville</a:t>
                      </a:r>
                    </a:p>
                  </a:txBody>
                  <a:tcPr marL="64008" marR="45720" marT="36576" marB="27432"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CA net</a:t>
                      </a:r>
                    </a:p>
                  </a:txBody>
                  <a:tcPr marL="64008" marR="45720" marT="36576" marB="27432"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Profit estimé</a:t>
                      </a:r>
                    </a:p>
                  </a:txBody>
                  <a:tcPr marL="64008" marR="45720" marT="36576" marB="27432"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Incidents</a:t>
                      </a:r>
                    </a:p>
                  </a:txBody>
                  <a:tcPr marL="64008" marR="45720" marT="36576" marB="27432" anchor="ctr">
                    <a:solidFill>
                      <a:srgbClr val="0D1B3E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Kinshasa</a:t>
                      </a:r>
                    </a:p>
                  </a:txBody>
                  <a:tcPr marL="64008" marR="45720" marT="36576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677 790 $</a:t>
                      </a:r>
                    </a:p>
                  </a:txBody>
                  <a:tcPr marL="64008" marR="45720" marT="36576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186 928 $</a:t>
                      </a:r>
                    </a:p>
                  </a:txBody>
                  <a:tcPr marL="64008" marR="45720" marT="36576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8.6 %</a:t>
                      </a:r>
                    </a:p>
                  </a:txBody>
                  <a:tcPr marL="64008" marR="45720" marT="36576" marB="27432" anchor="ctr">
                    <a:solidFill>
                      <a:srgbClr val="EEF2F7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Abidjan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446 823 $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124 021 $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8.7 %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Douala</a:t>
                      </a:r>
                    </a:p>
                  </a:txBody>
                  <a:tcPr marL="64008" marR="45720" marT="36576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344 178 $</a:t>
                      </a:r>
                    </a:p>
                  </a:txBody>
                  <a:tcPr marL="64008" marR="45720" marT="36576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95 808 $</a:t>
                      </a:r>
                    </a:p>
                  </a:txBody>
                  <a:tcPr marL="64008" marR="45720" marT="36576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19.9 %</a:t>
                      </a:r>
                    </a:p>
                  </a:txBody>
                  <a:tcPr marL="64008" marR="45720" marT="36576" marB="27432" anchor="ctr">
                    <a:solidFill>
                      <a:srgbClr val="EEF2F7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Dakar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307 405 $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84 001 $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9.4 %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Lomé</a:t>
                      </a:r>
                    </a:p>
                  </a:txBody>
                  <a:tcPr marL="64008" marR="45720" marT="36576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166 014 $</a:t>
                      </a:r>
                    </a:p>
                  </a:txBody>
                  <a:tcPr marL="64008" marR="45720" marT="36576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44 170 $</a:t>
                      </a:r>
                    </a:p>
                  </a:txBody>
                  <a:tcPr marL="64008" marR="45720" marT="36576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6.6 %</a:t>
                      </a:r>
                    </a:p>
                  </a:txBody>
                  <a:tcPr marL="64008" marR="45720" marT="36576" marB="27432" anchor="ctr">
                    <a:solidFill>
                      <a:srgbClr val="EEF2F7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Cotonou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141 542 $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38 265 $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7.5 %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46520" y="5440680"/>
            <a:ext cx="4937760" cy="6858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200" b="1">
                <a:solidFill>
                  <a:srgbClr val="0D1B3E"/>
                </a:solidFill>
                <a:latin typeface="Aptos"/>
              </a:rPr>
              <a:t>Priorité opérationnelle : investiguer les retours et annulations à Douala, puis comparer les motifs par produit et canal.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2500" b="1">
                <a:solidFill>
                  <a:srgbClr val="0D1B3E"/>
                </a:solidFill>
                <a:latin typeface="Aptos"/>
              </a:rPr>
              <a:t>Évolution mensuelle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972800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Aptos"/>
              </a:rPr>
              <a:t>Suivre les variations de revenus sans les confondre avec une croissance annuelle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960120" cy="50292"/>
          </a:xfrm>
          <a:prstGeom prst="rect">
            <a:avLst/>
          </a:prstGeom>
          <a:solidFill>
            <a:srgbClr val="0E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777240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800" b="0">
                <a:solidFill>
                  <a:srgbClr val="5B677A"/>
                </a:solidFill>
                <a:latin typeface="Aptos"/>
              </a:rPr>
              <a:t>AFRIMARKET  |  RAPPORT D’ANALYSE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r"/>
            <a:r>
              <a:rPr sz="900" b="0">
                <a:solidFill>
                  <a:srgbClr val="5B677A"/>
                </a:solidFill>
                <a:latin typeface="Aptos"/>
              </a:rPr>
              <a:t>07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078" y="1554480"/>
            <a:ext cx="8795362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100" b="0">
                <a:solidFill>
                  <a:srgbClr val="5B677A"/>
                </a:solidFill>
                <a:latin typeface="Aptos"/>
              </a:rPr>
              <a:t>À interpréter comme une comparaison des mois observés (July à December), et non comme une tendance annuelle.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2500" b="1">
                <a:solidFill>
                  <a:srgbClr val="0D1B3E"/>
                </a:solidFill>
                <a:latin typeface="Aptos"/>
              </a:rPr>
              <a:t>Performance marketing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972800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Aptos"/>
              </a:rPr>
              <a:t>Le ROI présenté est un indicateur simplifié, pas une rentabilité nette complète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960120" cy="50292"/>
          </a:xfrm>
          <a:prstGeom prst="rect">
            <a:avLst/>
          </a:prstGeom>
          <a:solidFill>
            <a:srgbClr val="0E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777240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800" b="0">
                <a:solidFill>
                  <a:srgbClr val="5B677A"/>
                </a:solidFill>
                <a:latin typeface="Aptos"/>
              </a:rPr>
              <a:t>AFRIMARKET  |  RAPPORT D’ANALYSE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r"/>
            <a:r>
              <a:rPr sz="900" b="0">
                <a:solidFill>
                  <a:srgbClr val="5B677A"/>
                </a:solidFill>
                <a:latin typeface="Aptos"/>
              </a:rPr>
              <a:t>08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03834"/>
            <a:ext cx="5760720" cy="3524651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92240" y="1783080"/>
          <a:ext cx="4983479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044"/>
                <a:gridCol w="1345539"/>
                <a:gridCol w="1245870"/>
                <a:gridCol w="897026"/>
              </a:tblGrid>
              <a:tr h="62179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Canal</a:t>
                      </a:r>
                    </a:p>
                  </a:txBody>
                  <a:tcPr marL="64008" marR="45720" marT="36576" marB="27432"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CA attribué</a:t>
                      </a:r>
                    </a:p>
                  </a:txBody>
                  <a:tcPr marL="64008" marR="45720" marT="36576" marB="27432"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Coût</a:t>
                      </a:r>
                    </a:p>
                  </a:txBody>
                  <a:tcPr marL="64008" marR="45720" marT="36576" marB="27432"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ROI*</a:t>
                      </a:r>
                    </a:p>
                  </a:txBody>
                  <a:tcPr marL="64008" marR="45720" marT="36576" marB="27432" anchor="ctr">
                    <a:solidFill>
                      <a:srgbClr val="0D1B3E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Instagram ads</a:t>
                      </a:r>
                    </a:p>
                  </a:txBody>
                  <a:tcPr marL="64008" marR="45720" marT="36576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868 817 $</a:t>
                      </a:r>
                    </a:p>
                  </a:txBody>
                  <a:tcPr marL="64008" marR="45720" marT="36576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40 050 $</a:t>
                      </a:r>
                    </a:p>
                  </a:txBody>
                  <a:tcPr marL="64008" marR="45720" marT="36576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20.7</a:t>
                      </a:r>
                    </a:p>
                  </a:txBody>
                  <a:tcPr marL="64008" marR="45720" marT="36576" marB="27432" anchor="ctr">
                    <a:solidFill>
                      <a:srgbClr val="EEF2F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Google ads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605 781 $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13 891 $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42.6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Email</a:t>
                      </a:r>
                    </a:p>
                  </a:txBody>
                  <a:tcPr marL="64008" marR="45720" marT="36576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495 552 $</a:t>
                      </a:r>
                    </a:p>
                  </a:txBody>
                  <a:tcPr marL="64008" marR="45720" marT="36576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2 511 $</a:t>
                      </a:r>
                    </a:p>
                  </a:txBody>
                  <a:tcPr marL="64008" marR="45720" marT="36576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196.3</a:t>
                      </a:r>
                    </a:p>
                  </a:txBody>
                  <a:tcPr marL="64008" marR="45720" marT="36576" marB="27432" anchor="ctr">
                    <a:solidFill>
                      <a:srgbClr val="EEF2F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Influenceur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323 733 $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17 435 $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D1B3E"/>
                          </a:solidFill>
                          <a:latin typeface="Aptos"/>
                        </a:rPr>
                        <a:t>17.6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5577840"/>
            <a:ext cx="10789920" cy="8229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0D1B3E"/>
                </a:solidFill>
                <a:latin typeface="Aptos"/>
              </a:rPr>
              <a:t>•  Email présente le ROI simplifié le plus élevé.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D1B3E"/>
                </a:solidFill>
                <a:latin typeface="Aptos"/>
              </a:rPr>
              <a:t>•  Instagram ads génère le CA attribué le plus important.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D1B3E"/>
                </a:solidFill>
                <a:latin typeface="Aptos"/>
              </a:rPr>
              <a:t>•  Le calcul ne déduit ni le coût des marchandises ni les autres coûts.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D1B3E"/>
                </a:solidFill>
                <a:latin typeface="Aptos"/>
              </a:rPr>
              <a:t>•  Définir une règle d’attribution avant de comparer les canaux.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2500" b="1">
                <a:solidFill>
                  <a:srgbClr val="0D1B3E"/>
                </a:solidFill>
                <a:latin typeface="Aptos"/>
              </a:rPr>
              <a:t>Clients et concentration du 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972800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Aptos"/>
              </a:rPr>
              <a:t>Fidélité mesurée par le nombre de commandes distinctes par client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960120" cy="50292"/>
          </a:xfrm>
          <a:prstGeom prst="rect">
            <a:avLst/>
          </a:prstGeom>
          <a:solidFill>
            <a:srgbClr val="0E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777240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800" b="0">
                <a:solidFill>
                  <a:srgbClr val="5B677A"/>
                </a:solidFill>
                <a:latin typeface="Aptos"/>
              </a:rPr>
              <a:t>AFRIMARKET  |  RAPPORT D’ANALYSE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r"/>
            <a:r>
              <a:rPr sz="900" b="0">
                <a:solidFill>
                  <a:srgbClr val="5B677A"/>
                </a:solidFill>
                <a:latin typeface="Aptos"/>
              </a:rPr>
              <a:t>09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515" y="1600200"/>
            <a:ext cx="6467928" cy="4251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79" y="1783080"/>
            <a:ext cx="3657600" cy="1417320"/>
          </a:xfrm>
          <a:prstGeom prst="roundRect">
            <a:avLst/>
          </a:prstGeom>
          <a:solidFill>
            <a:srgbClr val="EEF2F7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62671" y="1920240"/>
            <a:ext cx="3328416" cy="2286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900" b="1">
                <a:solidFill>
                  <a:srgbClr val="5B677A"/>
                </a:solidFill>
                <a:latin typeface="Aptos"/>
              </a:rPr>
              <a:t>CLIENTS RÉCURRENTS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62671" y="2221991"/>
            <a:ext cx="3328416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2200" b="1">
                <a:solidFill>
                  <a:srgbClr val="1F5FAA"/>
                </a:solidFill>
                <a:latin typeface="Aptos"/>
              </a:rPr>
              <a:t>75.5 %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62671" y="2715768"/>
            <a:ext cx="3328416" cy="42976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Aptos"/>
              </a:rPr>
              <a:t>Clients avec plus d’une commande distincte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520440"/>
            <a:ext cx="3657600" cy="1417320"/>
          </a:xfrm>
          <a:prstGeom prst="roundRect">
            <a:avLst/>
          </a:prstGeom>
          <a:solidFill>
            <a:srgbClr val="EEF2F7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62671" y="3657600"/>
            <a:ext cx="3328416" cy="2286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900" b="1">
                <a:solidFill>
                  <a:srgbClr val="5B677A"/>
                </a:solidFill>
                <a:latin typeface="Aptos"/>
              </a:rPr>
              <a:t>CLIENTS POUR ATTEINDRE 80 % DU 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62671" y="3959352"/>
            <a:ext cx="3328416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2200" b="1">
                <a:solidFill>
                  <a:srgbClr val="1F5FAA"/>
                </a:solidFill>
                <a:latin typeface="Aptos"/>
              </a:rPr>
              <a:t>31.5 %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62671" y="4453128"/>
            <a:ext cx="3328416" cy="42976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Aptos"/>
              </a:rPr>
              <a:t>Part cumulée de la clientèle, selon le Pareto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5257800"/>
            <a:ext cx="3566160" cy="8229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100" b="1">
                <a:solidFill>
                  <a:srgbClr val="0D1B3E"/>
                </a:solidFill>
                <a:latin typeface="Aptos"/>
              </a:rPr>
              <a:t>Piste d’action : fidéliser les meilleurs clients tout en développant l’activité des segments moins contributeurs.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2500" b="1">
                <a:solidFill>
                  <a:srgbClr val="0D1B3E"/>
                </a:solidFill>
                <a:latin typeface="Aptos"/>
              </a:rPr>
              <a:t>Recommandations prioritaires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972800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Aptos"/>
              </a:rPr>
              <a:t>Actions proposées pour fiabiliser les décisions et améliorer le pilotage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960120" cy="50292"/>
          </a:xfrm>
          <a:prstGeom prst="rect">
            <a:avLst/>
          </a:prstGeom>
          <a:solidFill>
            <a:srgbClr val="0E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777240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800" b="0">
                <a:solidFill>
                  <a:srgbClr val="5B677A"/>
                </a:solidFill>
                <a:latin typeface="Aptos"/>
              </a:rPr>
              <a:t>AFRIMARKET  |  RAPPORT D’ANALYSE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r"/>
            <a:r>
              <a:rPr sz="900" b="0">
                <a:solidFill>
                  <a:srgbClr val="5B677A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54480"/>
            <a:ext cx="5166360" cy="1143000"/>
          </a:xfrm>
          <a:prstGeom prst="roundRect">
            <a:avLst/>
          </a:prstGeom>
          <a:solidFill>
            <a:srgbClr val="EEF2F7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691639"/>
            <a:ext cx="4837176" cy="2286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900" b="1">
                <a:solidFill>
                  <a:srgbClr val="5B677A"/>
                </a:solidFill>
                <a:latin typeface="Aptos"/>
              </a:rPr>
              <a:t>01 · FIABILISER LE 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011680"/>
            <a:ext cx="4837176" cy="630936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Aptos"/>
              </a:rPr>
              <a:t>Valider les quantités nulles et définir le traitement des annulations et retours.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554480"/>
            <a:ext cx="5166360" cy="1143000"/>
          </a:xfrm>
          <a:prstGeom prst="roundRect">
            <a:avLst/>
          </a:prstGeom>
          <a:solidFill>
            <a:srgbClr val="EEF2F7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691639"/>
            <a:ext cx="4837176" cy="2286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900" b="1">
                <a:solidFill>
                  <a:srgbClr val="5B677A"/>
                </a:solidFill>
                <a:latin typeface="Aptos"/>
              </a:rPr>
              <a:t>02 · HARMONISER LES CATÉGORIES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011680"/>
            <a:ext cx="4837176" cy="630936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Aptos"/>
              </a:rPr>
              <a:t>Normaliser les libellés avant chaque agrégation, tableau ou visualisation.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971800"/>
            <a:ext cx="5166360" cy="1143000"/>
          </a:xfrm>
          <a:prstGeom prst="roundRect">
            <a:avLst/>
          </a:prstGeom>
          <a:solidFill>
            <a:srgbClr val="EEF2F7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108960"/>
            <a:ext cx="4837176" cy="2286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900" b="1">
                <a:solidFill>
                  <a:srgbClr val="5B677A"/>
                </a:solidFill>
                <a:latin typeface="Aptos"/>
              </a:rPr>
              <a:t>03 · RÉDUIRE LES RETOURS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3429000"/>
            <a:ext cx="4837176" cy="630936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Aptos"/>
              </a:rPr>
              <a:t>Analyser les motifs par produit, ville, canal et statut de commande.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971800"/>
            <a:ext cx="5166360" cy="1143000"/>
          </a:xfrm>
          <a:prstGeom prst="roundRect">
            <a:avLst/>
          </a:prstGeom>
          <a:solidFill>
            <a:srgbClr val="EEF2F7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3108960"/>
            <a:ext cx="4837176" cy="2286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900" b="1">
                <a:solidFill>
                  <a:srgbClr val="5B677A"/>
                </a:solidFill>
                <a:latin typeface="Aptos"/>
              </a:rPr>
              <a:t>04 · MESURER LA RENTABILITÉ RÉELLE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3429000"/>
            <a:ext cx="4837176" cy="630936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Aptos"/>
              </a:rPr>
              <a:t>Intégrer les coûts complets et documenter la méthode d’attribution marketing.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389120"/>
            <a:ext cx="5166360" cy="1143000"/>
          </a:xfrm>
          <a:prstGeom prst="roundRect">
            <a:avLst/>
          </a:prstGeom>
          <a:solidFill>
            <a:srgbClr val="EEF2F7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4526280"/>
            <a:ext cx="4837176" cy="2286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900" b="1">
                <a:solidFill>
                  <a:srgbClr val="5B677A"/>
                </a:solidFill>
                <a:latin typeface="Aptos"/>
              </a:rPr>
              <a:t>05 · DÉVELOPPER LA FIDÉLITÉ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846320"/>
            <a:ext cx="4837176" cy="630936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Aptos"/>
              </a:rPr>
              <a:t>Suivre les cohortes, la fréquence d’achat et la contribution client.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4389120"/>
            <a:ext cx="5166360" cy="1143000"/>
          </a:xfrm>
          <a:prstGeom prst="roundRect">
            <a:avLst/>
          </a:prstGeom>
          <a:solidFill>
            <a:srgbClr val="EEF2F7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4526280"/>
            <a:ext cx="4837176" cy="2286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900" b="1">
                <a:solidFill>
                  <a:srgbClr val="5B677A"/>
                </a:solidFill>
                <a:latin typeface="Aptos"/>
              </a:rPr>
              <a:t>06 · PILOTER DANS LE TEMPS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4846320"/>
            <a:ext cx="4837176" cy="630936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Aptos"/>
              </a:rPr>
              <a:t>Mettre à jour mensuellement des indicateurs cohérents et comparables.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2500" b="1">
                <a:solidFill>
                  <a:srgbClr val="0D1B3E"/>
                </a:solidFill>
                <a:latin typeface="Aptos"/>
              </a:rPr>
              <a:t>Annexe — définitions et limites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972800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Aptos"/>
              </a:rPr>
              <a:t>Interprétation des indicateurs présentés dans ce rapport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960120" cy="50292"/>
          </a:xfrm>
          <a:prstGeom prst="rect">
            <a:avLst/>
          </a:prstGeom>
          <a:solidFill>
            <a:srgbClr val="0E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777240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800" b="0">
                <a:solidFill>
                  <a:srgbClr val="5B677A"/>
                </a:solidFill>
                <a:latin typeface="Aptos"/>
              </a:rPr>
              <a:t>AFRIMARKET  |  RAPPORT D’ANALYSE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r"/>
            <a:r>
              <a:rPr sz="900" b="0">
                <a:solidFill>
                  <a:srgbClr val="5B677A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0607040" cy="41148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0D1B3E"/>
                </a:solidFill>
                <a:latin typeface="Aptos"/>
              </a:rPr>
              <a:t>•  CA net : prix unitaire × quantité × (1 − remise), selon les colonnes disponibles.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D1B3E"/>
                </a:solidFill>
                <a:latin typeface="Aptos"/>
              </a:rPr>
              <a:t>•  Profit net estimé : marge calculée avec une hypothèse de coût des marchandises, moins marketing et livraison.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D1B3E"/>
                </a:solidFill>
                <a:latin typeface="Aptos"/>
              </a:rPr>
              <a:t>•  Panier moyen : moyenne du CA net regroupé par identifiant de commande.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D1B3E"/>
                </a:solidFill>
                <a:latin typeface="Aptos"/>
              </a:rPr>
              <a:t>•  Clients récurrents : clients ayant passé plus d’une commande distincte.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D1B3E"/>
                </a:solidFill>
                <a:latin typeface="Aptos"/>
              </a:rPr>
              <a:t>•  ROI simplifié : (CA attribué − coût marketing) / coût marketing ; il ne s’agit pas d’un ROI net complet.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D1B3E"/>
                </a:solidFill>
                <a:latin typeface="Aptos"/>
              </a:rPr>
              <a:t>•  Taux d’annulation et taux de retour : proportions calculées sur les lignes du dataset.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D1B3E"/>
                </a:solidFill>
                <a:latin typeface="Aptos"/>
              </a:rPr>
              <a:t>•  Les résultats sont descriptifs ; ils ne démontrent pas de lien causal entre marketing et ventes.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10424160" cy="4114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200" b="1">
                <a:solidFill>
                  <a:srgbClr val="0E9F9A"/>
                </a:solidFill>
                <a:latin typeface="Aptos"/>
              </a:rPr>
              <a:t>Avant diffusion externe : valider les règles de calcul avec les équipes Finance, Opérations et Marketing.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